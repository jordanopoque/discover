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62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951360"/>
            <a:ext cx="8286750" cy="1205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50" b="1" kern="0" spc="-2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PROYECTO DE CAPSTONE
“DISCOVER”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28625" y="3445743"/>
            <a:ext cx="8286750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28625" y="4800600"/>
            <a:ext cx="828675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428625" y="4800600"/>
            <a:ext cx="8286750" cy="714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428625" y="4879181"/>
            <a:ext cx="13465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· PROYECTO APT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8611791" y="4879181"/>
            <a:ext cx="1035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628A6B5-69F9-FF2E-625F-A4BDA11AC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01064"/>
            <a:ext cx="2900378" cy="654098"/>
          </a:xfrm>
          <a:prstGeom prst="rect">
            <a:avLst/>
          </a:prstGeom>
        </p:spPr>
      </p:pic>
      <p:sp>
        <p:nvSpPr>
          <p:cNvPr id="9" name="Text 9">
            <a:extLst>
              <a:ext uri="{FF2B5EF4-FFF2-40B4-BE49-F238E27FC236}">
                <a16:creationId xmlns:a16="http://schemas.microsoft.com/office/drawing/2014/main" id="{A036083F-9122-6C61-3521-3B13B77D80DF}"/>
              </a:ext>
            </a:extLst>
          </p:cNvPr>
          <p:cNvSpPr/>
          <p:nvPr/>
        </p:nvSpPr>
        <p:spPr>
          <a:xfrm>
            <a:off x="513533" y="4058022"/>
            <a:ext cx="3687570" cy="189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</a:t>
            </a:r>
            <a:r>
              <a:rPr lang="en-US" sz="9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Felix Eduardo Cifuentes CID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76858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INTEGRANTES DEL PROYECTO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32284"/>
            <a:ext cx="3929063" cy="3582591"/>
          </a:xfrm>
          <a:prstGeom prst="rect">
            <a:avLst/>
          </a:prstGeom>
          <a:solidFill>
            <a:srgbClr val="112635"/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714375" y="1418034"/>
            <a:ext cx="33575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Jordán Órdenes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4375" y="1732359"/>
            <a:ext cx="33575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6B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DESARROLLADOR FULL STACK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14375" y="2139553"/>
            <a:ext cx="57150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714375" y="2068116"/>
            <a:ext cx="3357563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requerimientos y diseño de sistemas.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4375" y="2382441"/>
            <a:ext cx="57150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714375" y="2311003"/>
            <a:ext cx="3357563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 de API REST con Django.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14375" y="2625328"/>
            <a:ext cx="57150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714375" y="2553891"/>
            <a:ext cx="3357563" cy="14619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 funcionales y validación de usabilidad.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14375" y="2868216"/>
            <a:ext cx="57150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714375" y="2796778"/>
            <a:ext cx="3357563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de servicios de Inteligencia Artificial.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86313" y="1132284"/>
            <a:ext cx="3929063" cy="3582591"/>
          </a:xfrm>
          <a:prstGeom prst="rect">
            <a:avLst/>
          </a:prstGeom>
          <a:solidFill>
            <a:srgbClr val="112635"/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5072063" y="1418034"/>
            <a:ext cx="33575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Lino Barrera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72063" y="1732359"/>
            <a:ext cx="33575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6B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DESARROLLADOR FULL STACK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72063" y="2139553"/>
            <a:ext cx="57150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5072063" y="2068116"/>
            <a:ext cx="3357563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de interfaces de usuario (UI/UX).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72063" y="2382441"/>
            <a:ext cx="57150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5072063" y="2311003"/>
            <a:ext cx="3357563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de Frontend con Django Templates.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72063" y="2625328"/>
            <a:ext cx="57150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5072063" y="2553891"/>
            <a:ext cx="3357563" cy="14619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administración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bases de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MySQL.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72063" y="2868216"/>
            <a:ext cx="57150" cy="142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5072063" y="2796778"/>
            <a:ext cx="3357563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técnica y manuales de usuario.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28625" y="4800600"/>
            <a:ext cx="828675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6"/>
          <p:cNvSpPr/>
          <p:nvPr/>
        </p:nvSpPr>
        <p:spPr>
          <a:xfrm>
            <a:off x="428625" y="4800600"/>
            <a:ext cx="8286750" cy="714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428625" y="4879181"/>
            <a:ext cx="13465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· PROYECTO APT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8590359" y="4879181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540B79E7-E824-21D1-1082-372510470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489" y="108275"/>
            <a:ext cx="2900378" cy="6540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DESCRIPCIÓN DEL PROYECTO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1132284"/>
            <a:ext cx="38576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6B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 O DOLOR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28625" y="1378744"/>
            <a:ext cx="3857625" cy="8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s-CL" sz="1050" dirty="0">
                <a:solidFill>
                  <a:schemeClr val="bg1"/>
                </a:solidFill>
              </a:rPr>
              <a:t>Actualmente, encontrar y descubrir contenido que sea interesante para cada usuario puede resultar difícil cuando la información se encuentra distribuida en diferentes plataformas y fuentes. Esto puede generar una experiencia dispersa y dificultar que los usuarios encuentren nuevas alternativas.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28625" y="2807494"/>
            <a:ext cx="38576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6B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PROPUESTA DE SOLUCIÓN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28625" y="3053953"/>
            <a:ext cx="3857625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s-CL" sz="1000" b="1" dirty="0" err="1">
                <a:solidFill>
                  <a:schemeClr val="bg1"/>
                </a:solidFill>
              </a:rPr>
              <a:t>Discover</a:t>
            </a:r>
            <a:r>
              <a:rPr lang="es-CL" sz="1000" dirty="0">
                <a:solidFill>
                  <a:schemeClr val="bg1"/>
                </a:solidFill>
              </a:rPr>
              <a:t> propone una plataforma web de recomendaciones que centraliza contenidos y facilita a los usuarios la exploración de diferentes alternativas. La solución busca entregar una experiencia de usuario simple e intuitiva, incorporando tecnologías como </a:t>
            </a:r>
            <a:r>
              <a:rPr lang="es-CL" sz="1000" b="1" dirty="0">
                <a:solidFill>
                  <a:schemeClr val="bg1"/>
                </a:solidFill>
              </a:rPr>
              <a:t>API REST, base de datos e inteligencia artificial</a:t>
            </a:r>
            <a:r>
              <a:rPr lang="es-CL" sz="1000" dirty="0">
                <a:solidFill>
                  <a:schemeClr val="bg1"/>
                </a:solidFill>
              </a:rPr>
              <a:t>, permitiendo gestionar, compartir y explorar información de manera llamativa y facilitar el proceso de descubrimiento.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8625" y="4800600"/>
            <a:ext cx="828675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428625" y="4800600"/>
            <a:ext cx="8286750" cy="714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428625" y="4879181"/>
            <a:ext cx="13465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· PROYECTO APT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590359" y="4879181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CDD4653-20B9-DC8D-05A5-04538EB22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489" y="108275"/>
            <a:ext cx="2900378" cy="65409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9D3934F-343A-A733-07A1-81C365121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585920"/>
            <a:ext cx="4051779" cy="21955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OBJETIVOS DEL PROYECTO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32284"/>
            <a:ext cx="8286750" cy="1341462"/>
          </a:xfrm>
          <a:prstGeom prst="rect">
            <a:avLst/>
          </a:prstGeom>
          <a:solidFill>
            <a:srgbClr val="11263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428625" y="1132284"/>
            <a:ext cx="28575" cy="1341462"/>
          </a:xfrm>
          <a:prstGeom prst="rect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642938" y="1346597"/>
            <a:ext cx="7858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6B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 GENERAL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42938" y="1539478"/>
            <a:ext cx="7858125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s-CL" sz="1200" dirty="0">
                <a:solidFill>
                  <a:schemeClr val="bg1"/>
                </a:solidFill>
              </a:rPr>
              <a:t>Desarrollar la plataforma web </a:t>
            </a:r>
            <a:r>
              <a:rPr lang="es-CL" sz="1200" b="1" dirty="0" err="1">
                <a:solidFill>
                  <a:schemeClr val="bg1"/>
                </a:solidFill>
              </a:rPr>
              <a:t>Discover</a:t>
            </a:r>
            <a:r>
              <a:rPr lang="es-CL" sz="1200" dirty="0">
                <a:solidFill>
                  <a:schemeClr val="bg1"/>
                </a:solidFill>
              </a:rPr>
              <a:t>, orientada al descubrimiento y exploración de alternativas de interés para los usuarios, mediante una solución modular y escalable que integre una API REST, base de datos, tecnologías externas e inteligencia artificial, aplicando buenas prácticas de desarrollo de software.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28625" y="2830934"/>
            <a:ext cx="8286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OBJETIVOS ESPECÍFICOS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28625" y="3095253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73" y="3095253"/>
            <a:ext cx="368757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e implementar una API REST escalable </a:t>
            </a:r>
            <a:r>
              <a:rPr lang="en-US" sz="950" dirty="0" err="1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utilizando</a:t>
            </a:r>
            <a:r>
              <a:rPr lang="en-US" sz="9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Django REST Framework para la comunicación de servicios.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79156" y="3095253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7805" y="3095253"/>
            <a:ext cx="368757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Modelar y gestionar una base de datos relacional en MySQL que garantice la integridad y disponibilidad de los datos.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28625" y="3695328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73" y="3695328"/>
            <a:ext cx="3687570" cy="33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Integrar modelos de Inteligencia Artificial para el procesamiento y </a:t>
            </a:r>
            <a:r>
              <a:rPr lang="en-US" sz="950" dirty="0" err="1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creación</a:t>
            </a:r>
            <a:r>
              <a:rPr lang="en-US" sz="9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de la </a:t>
            </a:r>
            <a:r>
              <a:rPr lang="en-US" sz="950" dirty="0" err="1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</a:t>
            </a:r>
            <a:r>
              <a:rPr lang="en-US" sz="9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 </a:t>
            </a:r>
            <a:r>
              <a:rPr lang="en-US" sz="950" dirty="0" err="1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</a:t>
            </a:r>
            <a:r>
              <a:rPr lang="en-US" sz="9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679156" y="3695328"/>
            <a:ext cx="20577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E5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7805" y="3695328"/>
            <a:ext cx="368757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Desarrollar una interfaz de usuario intuitiva y funcional que facilite la interacción con el sistema y sus servicios.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8625" y="4800600"/>
            <a:ext cx="828675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428625" y="4800600"/>
            <a:ext cx="8286750" cy="714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428625" y="4879181"/>
            <a:ext cx="13465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· PROYECTO APT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8586788" y="4879181"/>
            <a:ext cx="1285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69020ED-A5BD-9508-703B-D25A7FBB6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489" y="108275"/>
            <a:ext cx="2900378" cy="6540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ALCANCES Y LIMITACIONES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1132284"/>
            <a:ext cx="3870015" cy="43219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ALCANCES DEL PROYECTO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298640" y="1132284"/>
            <a:ext cx="4416735" cy="43219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6B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LIMITACIONES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1768078"/>
            <a:ext cx="3561159" cy="163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Desarrollo de una API REST funcional para la gestión de datos técnicos.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41515" y="1768078"/>
            <a:ext cx="385048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desarrollo limitado a 4 meses y 2 semanas según calendario académico.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" y="2518172"/>
            <a:ext cx="295751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una base de datos MySQL normalizada y segura.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441515" y="2518172"/>
            <a:ext cx="37861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Disponibilidad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testers externos limitada para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usabilidad masivas.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" y="3268266"/>
            <a:ext cx="2964656" cy="33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servicios de IA con un MCP para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creación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textos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441515" y="3268266"/>
            <a:ext cx="3850481" cy="163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Recursos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hardware limitados a equipos personales de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desarrolladores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1500" y="4018359"/>
            <a:ext cx="3078956" cy="163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Interfaz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web responsiva para la visualización de resultados.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441515" y="4018359"/>
            <a:ext cx="3986213" cy="163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r>
              <a:rPr lang="en-US" sz="950" dirty="0" err="1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</a:t>
            </a:r>
            <a:r>
              <a:rPr lang="en-US" sz="950" dirty="0">
                <a:solidFill>
                  <a:srgbClr val="F5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la estabilidad de APIs externas de Inteligencia Artificial.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28625" y="4800600"/>
            <a:ext cx="828675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4"/>
          <p:cNvSpPr/>
          <p:nvPr/>
        </p:nvSpPr>
        <p:spPr>
          <a:xfrm>
            <a:off x="428625" y="4800600"/>
            <a:ext cx="8286750" cy="714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428625" y="4879181"/>
            <a:ext cx="13465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· PROYECTO APT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590359" y="4879181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5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51B78F18-2F61-E653-EB3C-A50B92559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489" y="108275"/>
            <a:ext cx="2900378" cy="6540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METODOLOGÍA DE TRABAJO SCRUM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57250" y="2852142"/>
            <a:ext cx="7429500" cy="7144"/>
          </a:xfrm>
          <a:prstGeom prst="rect">
            <a:avLst/>
          </a:prstGeom>
          <a:solidFill>
            <a:srgbClr val="00E5FF">
              <a:alpha val="3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1107281" y="2356768"/>
            <a:ext cx="357188" cy="357188"/>
          </a:xfrm>
          <a:prstGeom prst="ellipse">
            <a:avLst/>
          </a:prstGeom>
          <a:solidFill>
            <a:srgbClr val="091924"/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1107281" y="235676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17984" y="2856830"/>
            <a:ext cx="535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3067571"/>
            <a:ext cx="1428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Investigación, definición de requisitos y backlog inicial.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750344" y="2356768"/>
            <a:ext cx="357188" cy="357188"/>
          </a:xfrm>
          <a:prstGeom prst="ellipse">
            <a:avLst/>
          </a:prstGeom>
          <a:solidFill>
            <a:srgbClr val="091924"/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2750344" y="235676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12839" y="2856830"/>
            <a:ext cx="4321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214563" y="3067571"/>
            <a:ext cx="1428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Prototipos UI, arquitectura y modelamiento de BD.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393406" y="2356768"/>
            <a:ext cx="357188" cy="357188"/>
          </a:xfrm>
          <a:prstGeom prst="ellipse">
            <a:avLst/>
          </a:prstGeom>
          <a:solidFill>
            <a:srgbClr val="091924"/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4393406" y="235676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189809" y="2856830"/>
            <a:ext cx="7643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DESARROLLO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857625" y="3067571"/>
            <a:ext cx="1428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de API, Backend y Frontend.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036469" y="2356768"/>
            <a:ext cx="357188" cy="357188"/>
          </a:xfrm>
          <a:prstGeom prst="ellipse">
            <a:avLst/>
          </a:prstGeom>
          <a:solidFill>
            <a:srgbClr val="091924"/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6036469" y="235676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816798" y="2856830"/>
            <a:ext cx="7965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INTEGRACIÓN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00688" y="3067571"/>
            <a:ext cx="1428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Conexión de servicios e integración de IA.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7679531" y="2356768"/>
            <a:ext cx="357188" cy="357188"/>
          </a:xfrm>
          <a:prstGeom prst="ellipse">
            <a:avLst/>
          </a:prstGeom>
          <a:solidFill>
            <a:srgbClr val="091924"/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7679531" y="235676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590234" y="2856830"/>
            <a:ext cx="5357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PRUEBAS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43750" y="3067571"/>
            <a:ext cx="142875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funcional, usabilidad y ajustes finales.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28625" y="4800600"/>
            <a:ext cx="828675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Shape 25"/>
          <p:cNvSpPr/>
          <p:nvPr/>
        </p:nvSpPr>
        <p:spPr>
          <a:xfrm>
            <a:off x="428625" y="4800600"/>
            <a:ext cx="8286750" cy="714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428625" y="4879181"/>
            <a:ext cx="13465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· PROYECTO APT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8590359" y="4879181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5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2B8864CC-8DAF-0D9C-7516-DAC70B2DD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489" y="108275"/>
            <a:ext cx="2900378" cy="6540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CRONOGRAMA DE DESARROLLO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1515368"/>
            <a:ext cx="857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8B9DA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1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571625" y="1433215"/>
            <a:ext cx="7143750" cy="285750"/>
          </a:xfrm>
          <a:prstGeom prst="rect">
            <a:avLst/>
          </a:prstGeom>
          <a:solidFill>
            <a:srgbClr val="11263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1571625" y="1433215"/>
            <a:ext cx="1785938" cy="28575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1571625" y="1433215"/>
            <a:ext cx="1785938" cy="2857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9192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Y DEFINICIÓN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28625" y="2402979"/>
            <a:ext cx="857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8B9DA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2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1571625" y="2320826"/>
            <a:ext cx="7143750" cy="285750"/>
          </a:xfrm>
          <a:prstGeom prst="rect">
            <a:avLst/>
          </a:prstGeom>
          <a:solidFill>
            <a:srgbClr val="11263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3287519" y="2320826"/>
            <a:ext cx="3492104" cy="28575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3287519" y="2320826"/>
            <a:ext cx="1855981" cy="10772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9192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DESARROLLO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28625" y="3290590"/>
            <a:ext cx="857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8B9DA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3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1571625" y="3208437"/>
            <a:ext cx="7143750" cy="285750"/>
          </a:xfrm>
          <a:prstGeom prst="rect">
            <a:avLst/>
          </a:prstGeom>
          <a:solidFill>
            <a:srgbClr val="11263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6779623" y="3208437"/>
            <a:ext cx="1935751" cy="285750"/>
          </a:xfrm>
          <a:prstGeom prst="rect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6779623" y="3208436"/>
            <a:ext cx="1935583" cy="10772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PRUEBAS Y CIERRE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571625" y="4167485"/>
            <a:ext cx="38219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1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2883898" y="4167485"/>
            <a:ext cx="40362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4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217603" y="4167485"/>
            <a:ext cx="4000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8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547736" y="4167485"/>
            <a:ext cx="43576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12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913587" y="4167485"/>
            <a:ext cx="43576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16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8279439" y="4167485"/>
            <a:ext cx="43576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18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428625" y="4800600"/>
            <a:ext cx="828675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22"/>
          <p:cNvSpPr/>
          <p:nvPr/>
        </p:nvSpPr>
        <p:spPr>
          <a:xfrm>
            <a:off x="428625" y="4800600"/>
            <a:ext cx="8286750" cy="714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428625" y="4879181"/>
            <a:ext cx="13465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· PROYECTO APT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597503" y="4879181"/>
            <a:ext cx="1178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27751F8-C879-9E12-499C-290A06C5A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489" y="108275"/>
            <a:ext cx="2900378" cy="6540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DEL SOFTWARE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14500" y="992981"/>
            <a:ext cx="5715000" cy="667941"/>
          </a:xfrm>
          <a:prstGeom prst="rect">
            <a:avLst/>
          </a:prstGeom>
          <a:solidFill>
            <a:srgbClr val="112635"/>
          </a:solidFill>
          <a:ln w="9144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857375" y="1143000"/>
            <a:ext cx="54292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/ INTERFAZ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857375" y="1335881"/>
            <a:ext cx="54292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Django Templates + HTML5/CSS3 + JS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714500" y="2511028"/>
            <a:ext cx="5715000" cy="667941"/>
          </a:xfrm>
          <a:prstGeom prst="rect">
            <a:avLst/>
          </a:prstGeom>
          <a:solidFill>
            <a:srgbClr val="112635"/>
          </a:solidFill>
          <a:ln w="9144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1857375" y="2661047"/>
            <a:ext cx="54292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/ API REST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857375" y="2853928"/>
            <a:ext cx="54292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+ Django REST Framework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14500" y="4029075"/>
            <a:ext cx="2714625" cy="667941"/>
          </a:xfrm>
          <a:prstGeom prst="rect">
            <a:avLst/>
          </a:prstGeom>
          <a:solidFill>
            <a:srgbClr val="112635"/>
          </a:solidFill>
          <a:ln w="9144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1857375" y="4171950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FF6B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DE DATOS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857375" y="4364831"/>
            <a:ext cx="2428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14875" y="4029075"/>
            <a:ext cx="2714625" cy="667941"/>
          </a:xfrm>
          <a:prstGeom prst="rect">
            <a:avLst/>
          </a:prstGeom>
          <a:solidFill>
            <a:srgbClr val="112635"/>
          </a:solidFill>
          <a:ln w="9144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4857750" y="4179094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FF6B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SERVICIOS EXTERNOS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57750" y="4371975"/>
            <a:ext cx="2428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(OpenAI API / LLM)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8625" y="4800600"/>
            <a:ext cx="828675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6"/>
          <p:cNvSpPr/>
          <p:nvPr/>
        </p:nvSpPr>
        <p:spPr>
          <a:xfrm>
            <a:off x="428625" y="4800600"/>
            <a:ext cx="8286750" cy="714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428625" y="4879181"/>
            <a:ext cx="13465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· PROYECTO APT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8590359" y="4879181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5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767C3988-450F-D49B-548F-35D4DACC9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489" y="108275"/>
            <a:ext cx="2900378" cy="6540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614</Words>
  <Application>Microsoft Office PowerPoint</Application>
  <PresentationFormat>Presentación en pantalla (16:9)</PresentationFormat>
  <Paragraphs>105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Inter</vt:lpstr>
      <vt:lpstr>Inter Bold</vt:lpstr>
      <vt:lpstr>monospace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AO-Alumno</cp:lastModifiedBy>
  <cp:revision>4</cp:revision>
  <dcterms:created xsi:type="dcterms:W3CDTF">2026-09-08T05:04:47Z</dcterms:created>
  <dcterms:modified xsi:type="dcterms:W3CDTF">2026-09-08T23:21:37Z</dcterms:modified>
</cp:coreProperties>
</file>